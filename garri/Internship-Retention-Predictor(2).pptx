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Semi Bold"/>
      <p:regular r:id="rId21"/>
    </p:embeddedFont>
    <p:embeddedFont>
      <p:font typeface="Instrument Sans Semi Bold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  <p:embeddedFont>
      <p:font typeface="Instrument Sans Medium"/>
      <p:regular r:id="rId25"/>
    </p:embeddedFont>
    <p:embeddedFont>
      <p:font typeface="Instrument Sans Medium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97104"/>
            <a:ext cx="70550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Internship Retention Predictor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41483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Using ML to stabilize North-West talent pipelines.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938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Overview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796302"/>
            <a:ext cx="4215289" cy="1937147"/>
          </a:xfrm>
          <a:prstGeom prst="roundRect">
            <a:avLst>
              <a:gd name="adj" fmla="val 9221"/>
            </a:avLst>
          </a:prstGeom>
          <a:solidFill>
            <a:srgbClr val="CEE6FD"/>
          </a:solidFill>
          <a:ln/>
        </p:spPr>
      </p:sp>
      <p:sp>
        <p:nvSpPr>
          <p:cNvPr id="4" name="Shape 2"/>
          <p:cNvSpPr/>
          <p:nvPr/>
        </p:nvSpPr>
        <p:spPr>
          <a:xfrm>
            <a:off x="992148" y="299466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84C1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9" y="3158252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37883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Name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4217551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Internship Retention Predictor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2796302"/>
            <a:ext cx="4215408" cy="1937147"/>
          </a:xfrm>
          <a:prstGeom prst="roundRect">
            <a:avLst>
              <a:gd name="adj" fmla="val 9221"/>
            </a:avLst>
          </a:prstGeom>
          <a:solidFill>
            <a:srgbClr val="CEE6FD"/>
          </a:solidFill>
          <a:ln/>
        </p:spPr>
      </p:sp>
      <p:sp>
        <p:nvSpPr>
          <p:cNvPr id="9" name="Shape 6"/>
          <p:cNvSpPr/>
          <p:nvPr/>
        </p:nvSpPr>
        <p:spPr>
          <a:xfrm>
            <a:off x="5405795" y="299466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84C1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9506" y="3158252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05795" y="37883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Type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05795" y="4217551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Supervised Machine Learning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2796302"/>
            <a:ext cx="4215289" cy="1937147"/>
          </a:xfrm>
          <a:prstGeom prst="roundRect">
            <a:avLst>
              <a:gd name="adj" fmla="val 9221"/>
            </a:avLst>
          </a:prstGeom>
          <a:solidFill>
            <a:srgbClr val="CEE6FD"/>
          </a:solidFill>
          <a:ln/>
        </p:spPr>
      </p:sp>
      <p:sp>
        <p:nvSpPr>
          <p:cNvPr id="14" name="Shape 10"/>
          <p:cNvSpPr/>
          <p:nvPr/>
        </p:nvSpPr>
        <p:spPr>
          <a:xfrm>
            <a:off x="9819561" y="299466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84C1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3272" y="3158252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19561" y="37883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 Audience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19561" y="4217551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HR &amp; Recruitment Teams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93790" y="495669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are addressing unpredictable intern-to-employee conversion rates in the North-West Region. By applying machine learning to historical data, we transform talent retention from guesswork into a strategic advantage.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93790" y="581501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solution provides HR teams with actionable insights to optimize recruitment investments and stabilize talent pipelines. Data-driven predictions allow organizations to support high-potential candidates and proactively address at-risk internships.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5045"/>
            <a:ext cx="103672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Problem: Unpredictable Talent Pipelines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28195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North-West Region companies invest heavily in training interns but lack data to predict conversion, causing significant operational and financial inefficiencies.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4140279"/>
            <a:ext cx="4215289" cy="182427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4140279"/>
            <a:ext cx="91440" cy="1824276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43614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Wasted Resources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4790718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 and money are sunk into candidates who lack long-term intent, yielding no return on investment.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4140279"/>
            <a:ext cx="4215408" cy="182427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4577" y="4140279"/>
            <a:ext cx="91440" cy="1824276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</p:sp>
      <p:sp>
        <p:nvSpPr>
          <p:cNvPr id="10" name="Text 8"/>
          <p:cNvSpPr/>
          <p:nvPr/>
        </p:nvSpPr>
        <p:spPr>
          <a:xfrm>
            <a:off x="5497235" y="4361498"/>
            <a:ext cx="275713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Unpredictable Planning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97235" y="4790718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Without forecasting, HR faces last-minute hiring scrambles and staffing gaps in critical roles.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4140279"/>
            <a:ext cx="4215289" cy="182427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98343" y="4140279"/>
            <a:ext cx="91440" cy="1824276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</p:sp>
      <p:sp>
        <p:nvSpPr>
          <p:cNvPr id="14" name="Text 12"/>
          <p:cNvSpPr/>
          <p:nvPr/>
        </p:nvSpPr>
        <p:spPr>
          <a:xfrm>
            <a:off x="9911001" y="43614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Increased Churn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11001" y="4790718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transition turnover disrupts team dynamics and cycles through redundant recruitment and onboarding.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4100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Goals &amp; Objectives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35792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aim to build a predictive model to identify intern churn, enabling HR to proactively focus retention efforts on high-potential candidates.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89870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4213027"/>
            <a:ext cx="4215289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357926"/>
            <a:ext cx="315444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Binary Classification Model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4787146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 whether an intern will return based on historical patterns and performance indicators.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207437" y="389870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4213027"/>
            <a:ext cx="4215408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0" name="Text 8"/>
          <p:cNvSpPr/>
          <p:nvPr/>
        </p:nvSpPr>
        <p:spPr>
          <a:xfrm>
            <a:off x="5207437" y="43579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Probability Scoring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207437" y="4787146"/>
            <a:ext cx="42154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Assign each intern a risk score (0-1) to prioritize interventions based on churn likelihood.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21203" y="389870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4213027"/>
            <a:ext cx="4215289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4" name="Text 12"/>
          <p:cNvSpPr/>
          <p:nvPr/>
        </p:nvSpPr>
        <p:spPr>
          <a:xfrm>
            <a:off x="9621203" y="43579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Driver Analysis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21203" y="4787146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 key factors influencing retention to refine internship programs and support strategies.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3235"/>
            <a:ext cx="853309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Technical Scope: Data Requirements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9014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model leverages four key data points to analyze intern characteristics and experiences: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630930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7930" y="36309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Internship Duration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537930" y="4060150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Total weeks at the company. Measures exposure to company culture and work environment.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3630930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285" y="36309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Feedback Score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8183285" y="4060150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Performance rating (1–10) based on supervisor and peer evaluations. Reflects competence and cultural fit.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092065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7930" y="50920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Department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537930" y="5521285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Placement in IT, Admin, or Engineering. Captures how departmental culture impacts retention.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5092065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83285" y="50920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Commute Distance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8183285" y="5521285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Distance in kilometers to the office. A practical factor influencing daily experience and commitment.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8140"/>
            <a:ext cx="871966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 Variable &amp; Modeling Approach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242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 Variable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994660"/>
            <a:ext cx="560296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Returned: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Binary outcome (Yes/No) representing intern acceptance of a return offer. This dependent variable drives model learning based on historical retention patterns.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888480" y="24242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Modeling Strategy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888480" y="2994660"/>
            <a:ext cx="69556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Supervised learning algorithms leverage labeled historical data to identify and generalize retention patterns for future predictions.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349115"/>
            <a:ext cx="4347567" cy="7937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2148" y="53412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Logistic Regression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92148" y="5770483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Interpretable baseline model providing clear feature impact coefficients on retention probability.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4349115"/>
            <a:ext cx="4347567" cy="7937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9715" y="5341263"/>
            <a:ext cx="27172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Decision Tree Classifier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339715" y="5770483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Identifies non-linear relationships and complex interactions missed by linear models.</a:t>
            </a:r>
            <a:endParaRPr lang="en-US" sz="1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4349115"/>
            <a:ext cx="4347567" cy="7937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87282" y="53412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Random Forest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9687282" y="5770483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Ensemble approach combining multiple trees to enhance prediction accuracy and robustness.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595074"/>
            <a:ext cx="52263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Expected Deliverables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1512808"/>
            <a:ext cx="7556421" cy="1143476"/>
          </a:xfrm>
          <a:prstGeom prst="roundRect">
            <a:avLst>
              <a:gd name="adj" fmla="val 15621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6478548" y="17111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Trained ML Model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478548" y="2140387"/>
            <a:ext cx="71597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Validated model to predict intern retention probabilities based on profile data.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2854643"/>
            <a:ext cx="7556421" cy="1461016"/>
          </a:xfrm>
          <a:prstGeom prst="roundRect">
            <a:avLst>
              <a:gd name="adj" fmla="val 12226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6478548" y="305300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Performance Report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478548" y="3482221"/>
            <a:ext cx="71597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Comprehensive analysis of model accuracy, precision, recall, F1-score, and ROC-AUC.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80190" y="4514017"/>
            <a:ext cx="7556421" cy="1461016"/>
          </a:xfrm>
          <a:prstGeom prst="roundRect">
            <a:avLst>
              <a:gd name="adj" fmla="val 12226"/>
            </a:avLst>
          </a:prstGeom>
          <a:solidFill>
            <a:srgbClr val="CEE6FD"/>
          </a:solidFill>
          <a:ln/>
        </p:spPr>
      </p:sp>
      <p:sp>
        <p:nvSpPr>
          <p:cNvPr id="11" name="Text 8"/>
          <p:cNvSpPr/>
          <p:nvPr/>
        </p:nvSpPr>
        <p:spPr>
          <a:xfrm>
            <a:off x="6478548" y="4712375"/>
            <a:ext cx="25778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Interactive Dashboard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478548" y="5141595"/>
            <a:ext cx="71597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Streamlit app for HR managers to generate real-time predictions and visualizations.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80190" y="6173391"/>
            <a:ext cx="7556421" cy="1461016"/>
          </a:xfrm>
          <a:prstGeom prst="roundRect">
            <a:avLst>
              <a:gd name="adj" fmla="val 12226"/>
            </a:avLst>
          </a:prstGeom>
          <a:solidFill>
            <a:srgbClr val="CEE6FD"/>
          </a:solidFill>
          <a:ln/>
        </p:spPr>
      </p:sp>
      <p:sp>
        <p:nvSpPr>
          <p:cNvPr id="14" name="Text 11"/>
          <p:cNvSpPr/>
          <p:nvPr/>
        </p:nvSpPr>
        <p:spPr>
          <a:xfrm>
            <a:off x="6478548" y="63717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Importance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478548" y="6800969"/>
            <a:ext cx="71597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 breakdown of key retention drivers to guide strategic HR improvements.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414"/>
            <a:ext cx="607968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Implementation Roadmap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303770" y="1660327"/>
            <a:ext cx="22860" cy="5925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</p:sp>
      <p:sp>
        <p:nvSpPr>
          <p:cNvPr id="4" name="Shape 2"/>
          <p:cNvSpPr/>
          <p:nvPr/>
        </p:nvSpPr>
        <p:spPr>
          <a:xfrm>
            <a:off x="6519505" y="1872139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</p:sp>
      <p:sp>
        <p:nvSpPr>
          <p:cNvPr id="5" name="Shape 3"/>
          <p:cNvSpPr/>
          <p:nvPr/>
        </p:nvSpPr>
        <p:spPr>
          <a:xfrm>
            <a:off x="7091958" y="1660327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</p:sp>
      <p:sp>
        <p:nvSpPr>
          <p:cNvPr id="6" name="Text 4"/>
          <p:cNvSpPr/>
          <p:nvPr/>
        </p:nvSpPr>
        <p:spPr>
          <a:xfrm>
            <a:off x="7166372" y="169753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850594" y="1728549"/>
            <a:ext cx="34723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Collection &amp; Preparation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2157770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Aggregate historical records, clean data, and encode variables for modeling.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15582" y="3062764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</p:sp>
      <p:sp>
        <p:nvSpPr>
          <p:cNvPr id="10" name="Shape 8"/>
          <p:cNvSpPr/>
          <p:nvPr/>
        </p:nvSpPr>
        <p:spPr>
          <a:xfrm>
            <a:off x="7091958" y="2850952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</p:sp>
      <p:sp>
        <p:nvSpPr>
          <p:cNvPr id="11" name="Text 9"/>
          <p:cNvSpPr/>
          <p:nvPr/>
        </p:nvSpPr>
        <p:spPr>
          <a:xfrm>
            <a:off x="7166372" y="2888159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307467" y="29191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Development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307467" y="3348395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 multiple algorithms, tune hyperparameters, and select the top performer.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19505" y="4089083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1958" y="3877270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</p:sp>
      <p:sp>
        <p:nvSpPr>
          <p:cNvPr id="16" name="Text 14"/>
          <p:cNvSpPr/>
          <p:nvPr/>
        </p:nvSpPr>
        <p:spPr>
          <a:xfrm>
            <a:off x="7166372" y="391447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842028" y="39454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Validation &amp; Testing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4374713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against holdout data to ensure predictive accuracy and generalizability.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15582" y="5115520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1958" y="4903708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</p:sp>
      <p:sp>
        <p:nvSpPr>
          <p:cNvPr id="21" name="Text 19"/>
          <p:cNvSpPr/>
          <p:nvPr/>
        </p:nvSpPr>
        <p:spPr>
          <a:xfrm>
            <a:off x="7166372" y="494091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307467" y="4971931"/>
            <a:ext cx="291655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Dashboard Development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307467" y="5401151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the Streamlit interface for user input and real-time predictions.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19505" y="6141958"/>
            <a:ext cx="595313" cy="22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</p:sp>
      <p:sp>
        <p:nvSpPr>
          <p:cNvPr id="25" name="Shape 23"/>
          <p:cNvSpPr/>
          <p:nvPr/>
        </p:nvSpPr>
        <p:spPr>
          <a:xfrm>
            <a:off x="7091958" y="5930146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</p:sp>
      <p:sp>
        <p:nvSpPr>
          <p:cNvPr id="26" name="Text 24"/>
          <p:cNvSpPr/>
          <p:nvPr/>
        </p:nvSpPr>
        <p:spPr>
          <a:xfrm>
            <a:off x="7166372" y="596735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3640693" y="5998369"/>
            <a:ext cx="26822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Deployment &amp; Training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93790" y="6427589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Launch to production, train HR staff, and establish performance monitoring.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50538"/>
            <a:ext cx="616208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Expected Business Impact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467451"/>
            <a:ext cx="23533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25%</a:t>
            </a:r>
            <a:endParaRPr lang="en-US" sz="5150" dirty="0"/>
          </a:p>
        </p:txBody>
      </p:sp>
      <p:sp>
        <p:nvSpPr>
          <p:cNvPr id="5" name="Text 2"/>
          <p:cNvSpPr/>
          <p:nvPr/>
        </p:nvSpPr>
        <p:spPr>
          <a:xfrm>
            <a:off x="6280190" y="3370421"/>
            <a:ext cx="23533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Recruitment Costs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280190" y="3799642"/>
            <a:ext cx="23533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 high-probability candidates instead of broad sourcing.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881586" y="2467451"/>
            <a:ext cx="23535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40%</a:t>
            </a:r>
            <a:endParaRPr lang="en-US" sz="5150" dirty="0"/>
          </a:p>
        </p:txBody>
      </p:sp>
      <p:sp>
        <p:nvSpPr>
          <p:cNvPr id="8" name="Text 5"/>
          <p:cNvSpPr/>
          <p:nvPr/>
        </p:nvSpPr>
        <p:spPr>
          <a:xfrm>
            <a:off x="8881586" y="3370421"/>
            <a:ext cx="235350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Pipeline Predictability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881586" y="4109799"/>
            <a:ext cx="23535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Better forecasting of staffing needs and talent availability.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1483102" y="2467451"/>
            <a:ext cx="23533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15%</a:t>
            </a:r>
            <a:endParaRPr lang="en-US" sz="5150" dirty="0"/>
          </a:p>
        </p:txBody>
      </p:sp>
      <p:sp>
        <p:nvSpPr>
          <p:cNvPr id="11" name="Text 8"/>
          <p:cNvSpPr/>
          <p:nvPr/>
        </p:nvSpPr>
        <p:spPr>
          <a:xfrm>
            <a:off x="11483102" y="3370421"/>
            <a:ext cx="23533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Retention Rate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1483102" y="3799642"/>
            <a:ext cx="23533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Proactive support for at-risk interns boosts conversion.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280190" y="5285661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Projections based on industry benchmarks; results vary by data quality and intervention effectiveness.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280190" y="6143982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solution evolves internship programs into strategic retention tools, securing a competitive edge in the North-West market.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930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Team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106222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31062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Sarah Chen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3535442"/>
            <a:ext cx="5653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Lead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3106222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83285" y="31062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Marcus Johnson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183285" y="3535442"/>
            <a:ext cx="5653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Scientist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249817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7930" y="42498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Priya Patel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537930" y="4679037"/>
            <a:ext cx="5653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ML Engineer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4249817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83285" y="42498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James Rodriguez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183285" y="4679037"/>
            <a:ext cx="5653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Full-stack Developer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393412"/>
            <a:ext cx="496133" cy="49613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37930" y="539341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Emma Thompson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537930" y="5822633"/>
            <a:ext cx="5653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UX/UI Designer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790111"/>
            <a:ext cx="9923621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50"/>
              </a:lnSpc>
              <a:buNone/>
            </a:pPr>
            <a:r>
              <a:rPr lang="en-US" sz="7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5" name="Text 2"/>
          <p:cNvSpPr/>
          <p:nvPr/>
        </p:nvSpPr>
        <p:spPr>
          <a:xfrm>
            <a:off x="793790" y="4328160"/>
            <a:ext cx="486001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Questions? Let's Connect.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793790" y="512195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 further inquiries, please contact: project.lead@example.com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3689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Next Steps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992267" y="2052280"/>
            <a:ext cx="198358" cy="1163241"/>
          </a:xfrm>
          <a:prstGeom prst="roundRect">
            <a:avLst>
              <a:gd name="adj" fmla="val 90053"/>
            </a:avLst>
          </a:prstGeom>
          <a:solidFill>
            <a:srgbClr val="CEE6FD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1922026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CEE6F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618" y="2070854"/>
            <a:ext cx="297656" cy="2976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87460" y="1952982"/>
            <a:ext cx="27087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Stakeholder Alignment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587460" y="2382203"/>
            <a:ext cx="676275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Confirm requirements with HR, finalize access permissions, and define success metrics.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1289923" y="3711654"/>
            <a:ext cx="198358" cy="1163241"/>
          </a:xfrm>
          <a:prstGeom prst="roundRect">
            <a:avLst>
              <a:gd name="adj" fmla="val 90053"/>
            </a:avLst>
          </a:prstGeom>
          <a:solidFill>
            <a:srgbClr val="CEE6FD"/>
          </a:solidFill>
          <a:ln/>
        </p:spPr>
      </p:sp>
      <p:sp>
        <p:nvSpPr>
          <p:cNvPr id="10" name="Shape 6"/>
          <p:cNvSpPr/>
          <p:nvPr/>
        </p:nvSpPr>
        <p:spPr>
          <a:xfrm>
            <a:off x="1091446" y="3581400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CEE6F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0274" y="3730228"/>
            <a:ext cx="297656" cy="2976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85117" y="36123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Assessment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885117" y="4041577"/>
            <a:ext cx="64650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Audit historical internship databases for accuracy and address data gaps.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1587579" y="5371028"/>
            <a:ext cx="198358" cy="1163241"/>
          </a:xfrm>
          <a:prstGeom prst="roundRect">
            <a:avLst>
              <a:gd name="adj" fmla="val 90053"/>
            </a:avLst>
          </a:prstGeom>
          <a:solidFill>
            <a:srgbClr val="CEE6FD"/>
          </a:solidFill>
          <a:ln/>
        </p:spPr>
      </p:sp>
      <p:sp>
        <p:nvSpPr>
          <p:cNvPr id="15" name="Shape 10"/>
          <p:cNvSpPr/>
          <p:nvPr/>
        </p:nvSpPr>
        <p:spPr>
          <a:xfrm>
            <a:off x="1389102" y="5240774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CEE6F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37930" y="5389602"/>
            <a:ext cx="297656" cy="2976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82773" y="52717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Kickoff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2182773" y="5700951"/>
            <a:ext cx="616743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Assemble cross-functional team of data scientists, HR, and IT leads.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93790" y="6757630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Development begins within 2–3 weeks of securing buy-in. Total project timeline is 8–10 weeks from kickoff to production deployment.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2026-03-12T13:39:39Z</dcterms:created>
  <dcterms:modified xsi:type="dcterms:W3CDTF">2026-03-12T13:39:39Z</dcterms:modified>
</cp:coreProperties>
</file>